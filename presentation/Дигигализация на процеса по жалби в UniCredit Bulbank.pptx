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5143500" cx="9144000"/>
  <p:notesSz cx="6858000" cy="9144000"/>
  <p:embeddedFontLst>
    <p:embeddedFont>
      <p:font typeface="Sofia Sans"/>
      <p:regular r:id="rId26"/>
      <p:bold r:id="rId27"/>
      <p:italic r:id="rId28"/>
      <p:boldItalic r:id="rId29"/>
    </p:embeddedFont>
    <p:embeddedFont>
      <p:font typeface="Sofia Sans ExtraBold"/>
      <p:bold r:id="rId30"/>
      <p:boldItalic r:id="rId31"/>
    </p:embeddedFont>
    <p:embeddedFont>
      <p:font typeface="Inter"/>
      <p:regular r:id="rId32"/>
      <p:bold r:id="rId33"/>
      <p:italic r:id="rId34"/>
      <p:boldItalic r:id="rId35"/>
    </p:embeddedFont>
    <p:embeddedFont>
      <p:font typeface="Inter Black"/>
      <p:bold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E0A38CB-AF3C-49E6-A324-1C552A9A7F43}">
  <a:tblStyle styleId="{6E0A38CB-AF3C-49E6-A324-1C552A9A7F4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SofiaSans-regular.fntdata"/><Relationship Id="rId25" Type="http://schemas.openxmlformats.org/officeDocument/2006/relationships/slide" Target="slides/slide18.xml"/><Relationship Id="rId28" Type="http://schemas.openxmlformats.org/officeDocument/2006/relationships/font" Target="fonts/SofiaSans-italic.fntdata"/><Relationship Id="rId27" Type="http://schemas.openxmlformats.org/officeDocument/2006/relationships/font" Target="fonts/SofiaSans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SofiaSans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SofiaSansExtraBold-boldItalic.fntdata"/><Relationship Id="rId30" Type="http://schemas.openxmlformats.org/officeDocument/2006/relationships/font" Target="fonts/SofiaSansExtraBold-bold.fntdata"/><Relationship Id="rId11" Type="http://schemas.openxmlformats.org/officeDocument/2006/relationships/slide" Target="slides/slide4.xml"/><Relationship Id="rId33" Type="http://schemas.openxmlformats.org/officeDocument/2006/relationships/font" Target="fonts/Inter-bold.fntdata"/><Relationship Id="rId10" Type="http://schemas.openxmlformats.org/officeDocument/2006/relationships/slide" Target="slides/slide3.xml"/><Relationship Id="rId32" Type="http://schemas.openxmlformats.org/officeDocument/2006/relationships/font" Target="fonts/Inter-regular.fntdata"/><Relationship Id="rId13" Type="http://schemas.openxmlformats.org/officeDocument/2006/relationships/slide" Target="slides/slide6.xml"/><Relationship Id="rId35" Type="http://schemas.openxmlformats.org/officeDocument/2006/relationships/font" Target="fonts/Inter-boldItalic.fntdata"/><Relationship Id="rId12" Type="http://schemas.openxmlformats.org/officeDocument/2006/relationships/slide" Target="slides/slide5.xml"/><Relationship Id="rId34" Type="http://schemas.openxmlformats.org/officeDocument/2006/relationships/font" Target="fonts/Inter-italic.fntdata"/><Relationship Id="rId15" Type="http://schemas.openxmlformats.org/officeDocument/2006/relationships/slide" Target="slides/slide8.xml"/><Relationship Id="rId37" Type="http://schemas.openxmlformats.org/officeDocument/2006/relationships/font" Target="fonts/InterBlack-boldItalic.fntdata"/><Relationship Id="rId14" Type="http://schemas.openxmlformats.org/officeDocument/2006/relationships/slide" Target="slides/slide7.xml"/><Relationship Id="rId36" Type="http://schemas.openxmlformats.org/officeDocument/2006/relationships/font" Target="fonts/InterBlack-bold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86ecef0b2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d86ecef0b2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86ecef0b2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d86ecef0b2_2_10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86ecef0b2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g3d86ecef0b2_2_1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86ecef0b2_2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d86ecef0b2_2_1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86ecef0b2_4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g3d86ecef0b2_4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86ecef0b2_4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d86ecef0b2_4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86ecef0b2_4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d86ecef0b2_4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86ecef0b2_2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g3d86ecef0b2_2_1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86ecef0b2_2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g3d86ecef0b2_2_2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86ecef0b2_2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g3d86ecef0b2_2_2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86ecef0b2_2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g3d86ecef0b2_2_29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86ecef0b2_2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g3d86ecef0b2_2_3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86ecef0b2_2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g3d86ecef0b2_2_3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d86ecef0b2_2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g3d86ecef0b2_2_3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d86ecef0b2_2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2" name="Google Shape;292;g3d86ecef0b2_2_37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86ecef0b2_2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0" name="Google Shape;300;g3d86ecef0b2_2_38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d86ecef0b2_5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d86ecef0b2_5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d86ecef0b2_2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1" name="Google Shape;331;g3d86ecef0b2_2_4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254" y="1628776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914400" cy="51435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 txBox="1"/>
          <p:nvPr/>
        </p:nvSpPr>
        <p:spPr>
          <a:xfrm>
            <a:off x="8708231" y="4814888"/>
            <a:ext cx="22145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1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1485900" y="313700"/>
            <a:ext cx="7086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600" u="none" cap="none" strike="noStrike">
                <a:solidFill>
                  <a:srgbClr val="666666"/>
                </a:solidFill>
                <a:latin typeface="Sofia Sans"/>
                <a:ea typeface="Sofia Sans"/>
                <a:cs typeface="Sofia Sans"/>
                <a:sym typeface="Sofia Sans"/>
              </a:rPr>
              <a:t>Т</a:t>
            </a:r>
            <a:r>
              <a:rPr b="1" lang="en" sz="1600">
                <a:solidFill>
                  <a:srgbClr val="666666"/>
                </a:solidFill>
                <a:latin typeface="Sofia Sans"/>
                <a:ea typeface="Sofia Sans"/>
                <a:cs typeface="Sofia Sans"/>
                <a:sym typeface="Sofia Sans"/>
              </a:rPr>
              <a:t>У </a:t>
            </a:r>
            <a:r>
              <a:rPr b="1" i="0" lang="en" sz="1600" u="none" cap="none" strike="noStrike">
                <a:solidFill>
                  <a:srgbClr val="666666"/>
                </a:solidFill>
                <a:latin typeface="Sofia Sans"/>
                <a:ea typeface="Sofia Sans"/>
                <a:cs typeface="Sofia Sans"/>
                <a:sym typeface="Sofia Sans"/>
              </a:rPr>
              <a:t>СОФИЯ</a:t>
            </a:r>
            <a:endParaRPr i="0" sz="16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132" name="Google Shape;132;p25"/>
          <p:cNvSpPr txBox="1"/>
          <p:nvPr/>
        </p:nvSpPr>
        <p:spPr>
          <a:xfrm>
            <a:off x="1485900" y="753590"/>
            <a:ext cx="7086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" sz="4000">
                <a:solidFill>
                  <a:srgbClr val="1A1A1A"/>
                </a:solidFill>
                <a:latin typeface="Sofia Sans ExtraBold"/>
                <a:ea typeface="Sofia Sans ExtraBold"/>
                <a:cs typeface="Sofia Sans ExtraBold"/>
                <a:sym typeface="Sofia Sans ExtraBold"/>
              </a:rPr>
              <a:t>Дигигализация на процеса по жалби в UniCredit Bulbank</a:t>
            </a:r>
            <a:endParaRPr i="0" sz="4000" u="none" cap="none" strike="noStrike">
              <a:solidFill>
                <a:srgbClr val="000000"/>
              </a:solidFill>
              <a:latin typeface="Sofia Sans ExtraBold"/>
              <a:ea typeface="Sofia Sans ExtraBold"/>
              <a:cs typeface="Sofia Sans ExtraBold"/>
              <a:sym typeface="Sofia Sans ExtraBold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1485900" y="2301697"/>
            <a:ext cx="7086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Изготвили (III курс, специалност КСИ):</a:t>
            </a:r>
            <a:endParaRPr b="1" i="0" sz="16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1485900" y="2615242"/>
            <a:ext cx="7086600" cy="8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1600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Венцислав Димитров, 121223076, 42Б</a:t>
            </a:r>
            <a:endParaRPr sz="1600">
              <a:solidFill>
                <a:srgbClr val="1A1A1A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0" lvl="0" marL="0" marR="0" rtl="0" algn="l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1600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Максим Ванчев, 121223097, 40Б</a:t>
            </a:r>
            <a:endParaRPr sz="1600">
              <a:solidFill>
                <a:srgbClr val="1A1A1A"/>
              </a:solidFill>
              <a:latin typeface="Sofia Sans"/>
              <a:ea typeface="Sofia Sans"/>
              <a:cs typeface="Sofia Sans"/>
              <a:sym typeface="Sofia Sans"/>
            </a:endParaRPr>
          </a:p>
          <a:p>
            <a:pPr indent="0" lvl="0" marL="0" marR="0" rtl="0" algn="l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1600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Петър Иванов, 121223054, 42Б</a:t>
            </a:r>
            <a:endParaRPr sz="1600">
              <a:solidFill>
                <a:srgbClr val="1A1A1A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135" name="Google Shape;135;p25"/>
          <p:cNvSpPr txBox="1"/>
          <p:nvPr/>
        </p:nvSpPr>
        <p:spPr>
          <a:xfrm>
            <a:off x="1485900" y="4676305"/>
            <a:ext cx="7086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0" lang="en" sz="1600" u="none" cap="none" strike="noStrike">
                <a:solidFill>
                  <a:srgbClr val="666666"/>
                </a:solidFill>
                <a:latin typeface="Sofia Sans"/>
                <a:ea typeface="Sofia Sans"/>
                <a:cs typeface="Sofia Sans"/>
                <a:sym typeface="Sofia Sans"/>
              </a:rPr>
              <a:t>София, 2026</a:t>
            </a:r>
            <a:endParaRPr i="0" sz="16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6"/>
          <p:cNvSpPr txBox="1"/>
          <p:nvPr/>
        </p:nvSpPr>
        <p:spPr>
          <a:xfrm>
            <a:off x="571500" y="1714500"/>
            <a:ext cx="280035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0"/>
              <a:buFont typeface="Arial"/>
              <a:buNone/>
            </a:pPr>
            <a:r>
              <a:rPr b="0" i="0" lang="en" sz="13500" u="none" cap="none" strike="noStrike">
                <a:solidFill>
                  <a:srgbClr val="FFFFFF"/>
                </a:solidFill>
                <a:latin typeface="Inter Black"/>
                <a:ea typeface="Inter Black"/>
                <a:cs typeface="Inter Black"/>
                <a:sym typeface="Inter Black"/>
              </a:rPr>
              <a:t>01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3371850" y="2075259"/>
            <a:ext cx="546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Sofia Sans"/>
                <a:ea typeface="Sofia Sans"/>
                <a:cs typeface="Sofia Sans"/>
                <a:sym typeface="Sofia Sans"/>
              </a:rPr>
              <a:t>Проучване</a:t>
            </a:r>
            <a:endParaRPr i="0" sz="11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3371850" y="2611040"/>
            <a:ext cx="5200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i="0" lang="en" sz="1500" u="none" cap="none" strike="noStrike">
                <a:solidFill>
                  <a:srgbClr val="FFFFFF"/>
                </a:solidFill>
                <a:latin typeface="Sofia Sans"/>
                <a:ea typeface="Sofia Sans"/>
                <a:cs typeface="Sofia Sans"/>
                <a:sym typeface="Sofia Sans"/>
              </a:rPr>
              <a:t>Процес по жалби в трите български банки + </a:t>
            </a:r>
            <a:r>
              <a:rPr lang="en" sz="1500">
                <a:solidFill>
                  <a:srgbClr val="FFFFFF"/>
                </a:solidFill>
                <a:latin typeface="Sofia Sans"/>
                <a:ea typeface="Sofia Sans"/>
                <a:cs typeface="Sofia Sans"/>
                <a:sym typeface="Sofia Sans"/>
              </a:rPr>
              <a:t>Revolut</a:t>
            </a:r>
            <a:endParaRPr i="0" sz="11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8925" y="1538473"/>
            <a:ext cx="3471850" cy="1654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8425" y="1538475"/>
            <a:ext cx="3471850" cy="165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7"/>
          <p:cNvSpPr txBox="1"/>
          <p:nvPr/>
        </p:nvSpPr>
        <p:spPr>
          <a:xfrm>
            <a:off x="8679656" y="4814888"/>
            <a:ext cx="250031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4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7"/>
          <p:cNvSpPr txBox="1"/>
          <p:nvPr/>
        </p:nvSpPr>
        <p:spPr>
          <a:xfrm>
            <a:off x="571500" y="428625"/>
            <a:ext cx="7515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Ежедневното банкиране е дигитално, но жалбите не</a:t>
            </a:r>
            <a:endParaRPr i="0" sz="11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152" name="Google Shape;152;p27"/>
          <p:cNvSpPr/>
          <p:nvPr/>
        </p:nvSpPr>
        <p:spPr>
          <a:xfrm>
            <a:off x="571500" y="747191"/>
            <a:ext cx="7158038" cy="28575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7"/>
          <p:cNvSpPr txBox="1"/>
          <p:nvPr/>
        </p:nvSpPr>
        <p:spPr>
          <a:xfrm>
            <a:off x="578430" y="3549075"/>
            <a:ext cx="7472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Жалбите остават хибриден процес: </a:t>
            </a:r>
            <a:r>
              <a:rPr i="0" lang="en" sz="16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уеб + клон + имейл</a:t>
            </a:r>
            <a:endParaRPr i="0" sz="16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154" name="Google Shape;154;p27"/>
          <p:cNvSpPr txBox="1"/>
          <p:nvPr/>
        </p:nvSpPr>
        <p:spPr>
          <a:xfrm>
            <a:off x="578424" y="3914188"/>
            <a:ext cx="81081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Регулаторите вече изискват регистрация, SLA, одитен лог </a:t>
            </a:r>
            <a:r>
              <a:rPr lang="en" sz="1600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-</a:t>
            </a:r>
            <a:r>
              <a:rPr i="0" lang="en" sz="16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 лесно в дигитален процес</a:t>
            </a:r>
            <a:endParaRPr i="0" sz="16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155" name="Google Shape;155;p27"/>
          <p:cNvSpPr txBox="1"/>
          <p:nvPr/>
        </p:nvSpPr>
        <p:spPr>
          <a:xfrm>
            <a:off x="871319" y="1538486"/>
            <a:ext cx="288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" sz="7200" u="none" cap="none" strike="noStrike">
                <a:solidFill>
                  <a:srgbClr val="E30613"/>
                </a:solidFill>
                <a:latin typeface="Inter"/>
                <a:ea typeface="Inter"/>
                <a:cs typeface="Inter"/>
                <a:sym typeface="Inter"/>
              </a:rPr>
              <a:t>97%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7"/>
          <p:cNvSpPr txBox="1"/>
          <p:nvPr/>
        </p:nvSpPr>
        <p:spPr>
          <a:xfrm>
            <a:off x="871294" y="2573286"/>
            <a:ext cx="288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" sz="16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от плащанията в UCB са дигитални</a:t>
            </a:r>
            <a:endParaRPr i="0" sz="16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157" name="Google Shape;157;p27"/>
          <p:cNvSpPr txBox="1"/>
          <p:nvPr/>
        </p:nvSpPr>
        <p:spPr>
          <a:xfrm>
            <a:off x="2886444" y="2273493"/>
            <a:ext cx="288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200">
                <a:solidFill>
                  <a:srgbClr val="666666"/>
                </a:solidFill>
                <a:latin typeface="Sofia Sans"/>
                <a:ea typeface="Sofia Sans"/>
                <a:cs typeface="Sofia Sans"/>
                <a:sym typeface="Sofia Sans"/>
              </a:rPr>
              <a:t>НО</a:t>
            </a:r>
            <a:endParaRPr i="0" sz="11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158" name="Google Shape;158;p27"/>
          <p:cNvSpPr txBox="1"/>
          <p:nvPr/>
        </p:nvSpPr>
        <p:spPr>
          <a:xfrm>
            <a:off x="4871819" y="1538468"/>
            <a:ext cx="2886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1" i="0" lang="en" sz="72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0%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7"/>
          <p:cNvSpPr txBox="1"/>
          <p:nvPr/>
        </p:nvSpPr>
        <p:spPr>
          <a:xfrm>
            <a:off x="4871819" y="2573268"/>
            <a:ext cx="288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0" lang="en" sz="16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от жалби с PII могат да се подадат онлайн без КЕП</a:t>
            </a:r>
            <a:endParaRPr i="0" sz="16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160" name="Google Shape;160;p27"/>
          <p:cNvSpPr txBox="1"/>
          <p:nvPr/>
        </p:nvSpPr>
        <p:spPr>
          <a:xfrm>
            <a:off x="457479" y="3595275"/>
            <a:ext cx="314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7"/>
          <p:cNvSpPr txBox="1"/>
          <p:nvPr/>
        </p:nvSpPr>
        <p:spPr>
          <a:xfrm>
            <a:off x="457479" y="3948900"/>
            <a:ext cx="314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/>
        </p:nvSpPr>
        <p:spPr>
          <a:xfrm>
            <a:off x="8686800" y="4814888"/>
            <a:ext cx="243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5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571500" y="4577804"/>
            <a:ext cx="80010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" sz="9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Тествано от първо лице на 2026-04-09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8" title="ucb_form_to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00" y="472739"/>
            <a:ext cx="5377750" cy="241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8" title="ucb_form_botto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8050" y="152400"/>
            <a:ext cx="3643875" cy="477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8" title="ucb_confirmation.jpe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5413" y="2890535"/>
            <a:ext cx="5087524" cy="2141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/>
        </p:nvSpPr>
        <p:spPr>
          <a:xfrm>
            <a:off x="8686800" y="4814888"/>
            <a:ext cx="2430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5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29" title="revolut_support_cha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83900"/>
            <a:ext cx="2232702" cy="483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9" title="revolut_help_menu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5652" y="152400"/>
            <a:ext cx="2232702" cy="4838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9" title="revolut_complaint_respons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54104" y="152400"/>
            <a:ext cx="2232702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0" title="dsk_form.png"/>
          <p:cNvPicPr preferRelativeResize="0"/>
          <p:nvPr/>
        </p:nvPicPr>
        <p:blipFill rotWithShape="1">
          <a:blip r:embed="rId3">
            <a:alphaModFix/>
          </a:blip>
          <a:srcRect b="3382" l="0" r="0" t="0"/>
          <a:stretch/>
        </p:blipFill>
        <p:spPr>
          <a:xfrm>
            <a:off x="0" y="0"/>
            <a:ext cx="4592749" cy="502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0" title="dsk_email_reference_number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88750"/>
            <a:ext cx="2237975" cy="483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0" title="dsk_email_acknowledgmen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62375" y="152400"/>
            <a:ext cx="2029224" cy="493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1" title="dsk_actual_respon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5050"/>
            <a:ext cx="8834074" cy="4742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2"/>
          <p:cNvSpPr txBox="1"/>
          <p:nvPr/>
        </p:nvSpPr>
        <p:spPr>
          <a:xfrm>
            <a:off x="8686800" y="4814888"/>
            <a:ext cx="24288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6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6" name="Google Shape;196;p32"/>
          <p:cNvGraphicFramePr/>
          <p:nvPr/>
        </p:nvGraphicFramePr>
        <p:xfrm>
          <a:off x="571500" y="12043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{6E0A38CB-AF3C-49E6-A324-1C552A9A7F43}</a:tableStyleId>
              </a:tblPr>
              <a:tblGrid>
                <a:gridCol w="2200825"/>
                <a:gridCol w="1803575"/>
                <a:gridCol w="1517475"/>
                <a:gridCol w="889825"/>
                <a:gridCol w="1589250"/>
              </a:tblGrid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Аспект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UniCredit Bulbank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DSK Bank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ОББ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Revolut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In-app подаване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✗ Не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✗ Не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✗ Не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✓ Да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Референтен номер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✗ Не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✓ Да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✗ Не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✓ Да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Имейл потвърждение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✗ Не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✓ 2 имейла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✗ Не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✓ Да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AI триажна оценка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✗ Не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✗ Не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✗ Не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✓ Да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Обявен срок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3 / 15 дни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3 работни дни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E30613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45 дни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15 работни дни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КЕП при PII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E30613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Изисква се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Не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Не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Не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7" name="Google Shape;197;p32"/>
          <p:cNvSpPr txBox="1"/>
          <p:nvPr/>
        </p:nvSpPr>
        <p:spPr>
          <a:xfrm>
            <a:off x="571500" y="428625"/>
            <a:ext cx="4208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Сравнение</a:t>
            </a:r>
            <a:endParaRPr i="0" sz="11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198" name="Google Shape;198;p32"/>
          <p:cNvSpPr/>
          <p:nvPr/>
        </p:nvSpPr>
        <p:spPr>
          <a:xfrm>
            <a:off x="571500" y="747191"/>
            <a:ext cx="4007644" cy="28575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2"/>
          <p:cNvSpPr/>
          <p:nvPr/>
        </p:nvSpPr>
        <p:spPr>
          <a:xfrm>
            <a:off x="571500" y="1597297"/>
            <a:ext cx="2200833" cy="14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2"/>
          <p:cNvSpPr/>
          <p:nvPr/>
        </p:nvSpPr>
        <p:spPr>
          <a:xfrm>
            <a:off x="2772333" y="1597297"/>
            <a:ext cx="1803573" cy="14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2"/>
          <p:cNvSpPr/>
          <p:nvPr/>
        </p:nvSpPr>
        <p:spPr>
          <a:xfrm>
            <a:off x="4575906" y="1597297"/>
            <a:ext cx="1517489" cy="14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2"/>
          <p:cNvSpPr/>
          <p:nvPr/>
        </p:nvSpPr>
        <p:spPr>
          <a:xfrm>
            <a:off x="6093395" y="1597297"/>
            <a:ext cx="889843" cy="14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2"/>
          <p:cNvSpPr/>
          <p:nvPr/>
        </p:nvSpPr>
        <p:spPr>
          <a:xfrm>
            <a:off x="6983239" y="1597297"/>
            <a:ext cx="1589260" cy="14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2"/>
          <p:cNvSpPr/>
          <p:nvPr/>
        </p:nvSpPr>
        <p:spPr>
          <a:xfrm>
            <a:off x="571500" y="2039094"/>
            <a:ext cx="2200833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2"/>
          <p:cNvSpPr/>
          <p:nvPr/>
        </p:nvSpPr>
        <p:spPr>
          <a:xfrm>
            <a:off x="2772333" y="2039094"/>
            <a:ext cx="1803573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2"/>
          <p:cNvSpPr/>
          <p:nvPr/>
        </p:nvSpPr>
        <p:spPr>
          <a:xfrm>
            <a:off x="4575906" y="2039094"/>
            <a:ext cx="1517489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2"/>
          <p:cNvSpPr/>
          <p:nvPr/>
        </p:nvSpPr>
        <p:spPr>
          <a:xfrm>
            <a:off x="6093395" y="2039094"/>
            <a:ext cx="889843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2"/>
          <p:cNvSpPr/>
          <p:nvPr/>
        </p:nvSpPr>
        <p:spPr>
          <a:xfrm>
            <a:off x="6983239" y="2039094"/>
            <a:ext cx="1589260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2"/>
          <p:cNvSpPr/>
          <p:nvPr/>
        </p:nvSpPr>
        <p:spPr>
          <a:xfrm>
            <a:off x="571500" y="2470063"/>
            <a:ext cx="2200833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2"/>
          <p:cNvSpPr/>
          <p:nvPr/>
        </p:nvSpPr>
        <p:spPr>
          <a:xfrm>
            <a:off x="2772333" y="2470063"/>
            <a:ext cx="1803573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2"/>
          <p:cNvSpPr/>
          <p:nvPr/>
        </p:nvSpPr>
        <p:spPr>
          <a:xfrm>
            <a:off x="4575906" y="2470063"/>
            <a:ext cx="1517489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2"/>
          <p:cNvSpPr/>
          <p:nvPr/>
        </p:nvSpPr>
        <p:spPr>
          <a:xfrm>
            <a:off x="6093395" y="2470063"/>
            <a:ext cx="889843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2"/>
          <p:cNvSpPr/>
          <p:nvPr/>
        </p:nvSpPr>
        <p:spPr>
          <a:xfrm>
            <a:off x="6983239" y="2470063"/>
            <a:ext cx="1589260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2"/>
          <p:cNvSpPr/>
          <p:nvPr/>
        </p:nvSpPr>
        <p:spPr>
          <a:xfrm>
            <a:off x="571500" y="2901032"/>
            <a:ext cx="2200833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2"/>
          <p:cNvSpPr/>
          <p:nvPr/>
        </p:nvSpPr>
        <p:spPr>
          <a:xfrm>
            <a:off x="2772333" y="2901032"/>
            <a:ext cx="1803573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2"/>
          <p:cNvSpPr/>
          <p:nvPr/>
        </p:nvSpPr>
        <p:spPr>
          <a:xfrm>
            <a:off x="4575906" y="2901032"/>
            <a:ext cx="1517489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2"/>
          <p:cNvSpPr/>
          <p:nvPr/>
        </p:nvSpPr>
        <p:spPr>
          <a:xfrm>
            <a:off x="6093395" y="2901032"/>
            <a:ext cx="889843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2"/>
          <p:cNvSpPr/>
          <p:nvPr/>
        </p:nvSpPr>
        <p:spPr>
          <a:xfrm>
            <a:off x="6983239" y="2901032"/>
            <a:ext cx="1589260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2"/>
          <p:cNvSpPr/>
          <p:nvPr/>
        </p:nvSpPr>
        <p:spPr>
          <a:xfrm>
            <a:off x="571500" y="3332001"/>
            <a:ext cx="2200833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2"/>
          <p:cNvSpPr/>
          <p:nvPr/>
        </p:nvSpPr>
        <p:spPr>
          <a:xfrm>
            <a:off x="2772333" y="3332001"/>
            <a:ext cx="1803573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2"/>
          <p:cNvSpPr/>
          <p:nvPr/>
        </p:nvSpPr>
        <p:spPr>
          <a:xfrm>
            <a:off x="4575906" y="3332001"/>
            <a:ext cx="1517489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2"/>
          <p:cNvSpPr/>
          <p:nvPr/>
        </p:nvSpPr>
        <p:spPr>
          <a:xfrm>
            <a:off x="6093395" y="3332001"/>
            <a:ext cx="889843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2"/>
          <p:cNvSpPr/>
          <p:nvPr/>
        </p:nvSpPr>
        <p:spPr>
          <a:xfrm>
            <a:off x="6983239" y="3332001"/>
            <a:ext cx="1589260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2"/>
          <p:cNvSpPr/>
          <p:nvPr/>
        </p:nvSpPr>
        <p:spPr>
          <a:xfrm>
            <a:off x="571500" y="3762970"/>
            <a:ext cx="2200833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2"/>
          <p:cNvSpPr/>
          <p:nvPr/>
        </p:nvSpPr>
        <p:spPr>
          <a:xfrm>
            <a:off x="2772333" y="3762970"/>
            <a:ext cx="1803573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2"/>
          <p:cNvSpPr/>
          <p:nvPr/>
        </p:nvSpPr>
        <p:spPr>
          <a:xfrm>
            <a:off x="4575906" y="3762970"/>
            <a:ext cx="1517489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2"/>
          <p:cNvSpPr/>
          <p:nvPr/>
        </p:nvSpPr>
        <p:spPr>
          <a:xfrm>
            <a:off x="6093395" y="3762970"/>
            <a:ext cx="889843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2"/>
          <p:cNvSpPr/>
          <p:nvPr/>
        </p:nvSpPr>
        <p:spPr>
          <a:xfrm>
            <a:off x="6983239" y="3762970"/>
            <a:ext cx="1589260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2"/>
          <p:cNvSpPr/>
          <p:nvPr/>
        </p:nvSpPr>
        <p:spPr>
          <a:xfrm>
            <a:off x="571500" y="4194050"/>
            <a:ext cx="2200833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2"/>
          <p:cNvSpPr/>
          <p:nvPr/>
        </p:nvSpPr>
        <p:spPr>
          <a:xfrm>
            <a:off x="2772333" y="4194050"/>
            <a:ext cx="1803573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2"/>
          <p:cNvSpPr/>
          <p:nvPr/>
        </p:nvSpPr>
        <p:spPr>
          <a:xfrm>
            <a:off x="4575906" y="4194050"/>
            <a:ext cx="1517489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2"/>
          <p:cNvSpPr/>
          <p:nvPr/>
        </p:nvSpPr>
        <p:spPr>
          <a:xfrm>
            <a:off x="6093395" y="4194050"/>
            <a:ext cx="889843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2"/>
          <p:cNvSpPr/>
          <p:nvPr/>
        </p:nvSpPr>
        <p:spPr>
          <a:xfrm>
            <a:off x="6983239" y="4194050"/>
            <a:ext cx="1589260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3"/>
          <p:cNvSpPr txBox="1"/>
          <p:nvPr/>
        </p:nvSpPr>
        <p:spPr>
          <a:xfrm>
            <a:off x="8686800" y="4814888"/>
            <a:ext cx="242888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9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9" name="Google Shape;239;p33"/>
          <p:cNvGraphicFramePr/>
          <p:nvPr/>
        </p:nvGraphicFramePr>
        <p:xfrm>
          <a:off x="571500" y="120439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{6E0A38CB-AF3C-49E6-A324-1C552A9A7F43}</a:tableStyleId>
              </a:tblPr>
              <a:tblGrid>
                <a:gridCol w="2800350"/>
                <a:gridCol w="5200650"/>
              </a:tblGrid>
              <a:tr h="54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Разпоредба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Какво изисква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54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ЗПУПС чл. 174, ал. 1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Доставчикът на платежни услуги отговаря в рамките на </a:t>
                      </a:r>
                      <a:r>
                        <a:rPr b="1"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15 работни дни</a:t>
                      </a: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.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ЗПУПС чл. 174, ал. 4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При изключителни обстоятелства — удължаване до </a:t>
                      </a:r>
                      <a:r>
                        <a:rPr b="1"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35 работни дни</a:t>
                      </a: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, с междинно уведомяване. Транспонира PSD2 чл. 101.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EBA/GL/2015/18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i="0" lang="en" sz="1200" u="none" cap="none" strike="noStrike">
                          <a:solidFill>
                            <a:srgbClr val="1A1A1A"/>
                          </a:solidFill>
                          <a:latin typeface="Sofia Sans"/>
                          <a:ea typeface="Sofia Sans"/>
                          <a:cs typeface="Sofia Sans"/>
                          <a:sym typeface="Sofia Sans"/>
                        </a:rPr>
                        <a:t>Задължителна регистрация, функция за управление, регулярно отчитане.</a:t>
                      </a:r>
                      <a:endParaRPr sz="1100" u="none" cap="none" strike="noStrike">
                        <a:latin typeface="Sofia Sans"/>
                        <a:ea typeface="Sofia Sans"/>
                        <a:cs typeface="Sofia Sans"/>
                        <a:sym typeface="Sofia Sans"/>
                      </a:endParaRPr>
                    </a:p>
                  </a:txBody>
                  <a:tcPr marT="19050" marB="19050" marR="47625" marL="476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0" name="Google Shape;240;p33"/>
          <p:cNvSpPr txBox="1"/>
          <p:nvPr/>
        </p:nvSpPr>
        <p:spPr>
          <a:xfrm>
            <a:off x="571500" y="428625"/>
            <a:ext cx="264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Регулаторна рамка</a:t>
            </a:r>
            <a:endParaRPr i="0" sz="11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241" name="Google Shape;241;p33"/>
          <p:cNvSpPr/>
          <p:nvPr/>
        </p:nvSpPr>
        <p:spPr>
          <a:xfrm>
            <a:off x="571500" y="747191"/>
            <a:ext cx="2521744" cy="28575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3"/>
          <p:cNvSpPr/>
          <p:nvPr/>
        </p:nvSpPr>
        <p:spPr>
          <a:xfrm>
            <a:off x="571500" y="1597297"/>
            <a:ext cx="2800350" cy="14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3"/>
          <p:cNvSpPr/>
          <p:nvPr/>
        </p:nvSpPr>
        <p:spPr>
          <a:xfrm>
            <a:off x="3371850" y="1597297"/>
            <a:ext cx="5200650" cy="14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3"/>
          <p:cNvSpPr txBox="1"/>
          <p:nvPr/>
        </p:nvSpPr>
        <p:spPr>
          <a:xfrm>
            <a:off x="571500" y="3865475"/>
            <a:ext cx="8001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latin typeface="Sofia Sans"/>
                <a:ea typeface="Sofia Sans"/>
                <a:cs typeface="Sofia Sans"/>
                <a:sym typeface="Sofia Sans"/>
              </a:rPr>
              <a:t>Предложеният in-app процес връща отговор под 3 работни дни, което е по-малко от регулаторния таван. Append-only audit log ще покрие EBA/GL/2015/18 за регистрация и отчетност. </a:t>
            </a:r>
            <a:endParaRPr i="0" sz="1100" u="none" cap="none" strike="noStrike"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245" name="Google Shape;245;p33"/>
          <p:cNvSpPr/>
          <p:nvPr/>
        </p:nvSpPr>
        <p:spPr>
          <a:xfrm>
            <a:off x="571500" y="2200944"/>
            <a:ext cx="2800350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3"/>
          <p:cNvSpPr/>
          <p:nvPr/>
        </p:nvSpPr>
        <p:spPr>
          <a:xfrm>
            <a:off x="3371850" y="2200944"/>
            <a:ext cx="5200650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3"/>
          <p:cNvSpPr/>
          <p:nvPr/>
        </p:nvSpPr>
        <p:spPr>
          <a:xfrm>
            <a:off x="571500" y="2793875"/>
            <a:ext cx="2800350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3"/>
          <p:cNvSpPr/>
          <p:nvPr/>
        </p:nvSpPr>
        <p:spPr>
          <a:xfrm>
            <a:off x="3371850" y="2793875"/>
            <a:ext cx="5200650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3"/>
          <p:cNvSpPr/>
          <p:nvPr/>
        </p:nvSpPr>
        <p:spPr>
          <a:xfrm>
            <a:off x="571500" y="3386807"/>
            <a:ext cx="2800350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3"/>
          <p:cNvSpPr/>
          <p:nvPr/>
        </p:nvSpPr>
        <p:spPr>
          <a:xfrm>
            <a:off x="3371850" y="3386807"/>
            <a:ext cx="5200650" cy="7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4"/>
          <p:cNvSpPr txBox="1"/>
          <p:nvPr/>
        </p:nvSpPr>
        <p:spPr>
          <a:xfrm>
            <a:off x="857250" y="5392995"/>
            <a:ext cx="71438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4"/>
          <p:cNvSpPr txBox="1"/>
          <p:nvPr/>
        </p:nvSpPr>
        <p:spPr>
          <a:xfrm>
            <a:off x="928688" y="5394424"/>
            <a:ext cx="3393281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Supervisor approval gate за всяко монетарно действие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34"/>
          <p:cNvSpPr txBox="1"/>
          <p:nvPr/>
        </p:nvSpPr>
        <p:spPr>
          <a:xfrm>
            <a:off x="4929188" y="5285839"/>
            <a:ext cx="71438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4"/>
          <p:cNvSpPr txBox="1"/>
          <p:nvPr/>
        </p:nvSpPr>
        <p:spPr>
          <a:xfrm>
            <a:off x="5000625" y="5287267"/>
            <a:ext cx="3393281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-50%</a:t>
            </a:r>
            <a:r>
              <a:rPr b="0" i="0" lang="en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време за разследване на специалист (чрез AI контекст)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4"/>
          <p:cNvSpPr txBox="1"/>
          <p:nvPr/>
        </p:nvSpPr>
        <p:spPr>
          <a:xfrm>
            <a:off x="4929188" y="5701516"/>
            <a:ext cx="71438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4"/>
          <p:cNvSpPr txBox="1"/>
          <p:nvPr/>
        </p:nvSpPr>
        <p:spPr>
          <a:xfrm>
            <a:off x="5000625" y="5702944"/>
            <a:ext cx="3393281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b="0" i="0" lang="en" sz="10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 breach на регулаторен срок в първата година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p34" title="product_vis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613" y="15291"/>
            <a:ext cx="748677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5"/>
          <p:cNvSpPr txBox="1"/>
          <p:nvPr/>
        </p:nvSpPr>
        <p:spPr>
          <a:xfrm>
            <a:off x="571500" y="1714500"/>
            <a:ext cx="280035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0"/>
              <a:buFont typeface="Arial"/>
              <a:buNone/>
            </a:pPr>
            <a:r>
              <a:rPr b="0" i="0" lang="en" sz="13500" u="none" cap="none" strike="noStrike">
                <a:solidFill>
                  <a:srgbClr val="FFFFFF"/>
                </a:solidFill>
                <a:latin typeface="Inter Black"/>
                <a:ea typeface="Inter Black"/>
                <a:cs typeface="Inter Black"/>
                <a:sym typeface="Inter Black"/>
              </a:rPr>
              <a:t>02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5"/>
          <p:cNvSpPr txBox="1"/>
          <p:nvPr/>
        </p:nvSpPr>
        <p:spPr>
          <a:xfrm>
            <a:off x="3371850" y="2189559"/>
            <a:ext cx="546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  <a:latin typeface="Sofia Sans"/>
                <a:ea typeface="Sofia Sans"/>
                <a:cs typeface="Sofia Sans"/>
                <a:sym typeface="Sofia Sans"/>
              </a:rPr>
              <a:t>Бизнес процес</a:t>
            </a:r>
            <a:endParaRPr i="0" sz="11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269" name="Google Shape;269;p35"/>
          <p:cNvSpPr txBox="1"/>
          <p:nvPr/>
        </p:nvSpPr>
        <p:spPr>
          <a:xfrm>
            <a:off x="3371850" y="2725340"/>
            <a:ext cx="5200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i="0" lang="en" sz="1500" u="none" cap="none" strike="noStrike">
                <a:solidFill>
                  <a:srgbClr val="FFFFFF"/>
                </a:solidFill>
                <a:latin typeface="Sofia Sans"/>
                <a:ea typeface="Sofia Sans"/>
                <a:cs typeface="Sofia Sans"/>
                <a:sym typeface="Sofia Sans"/>
              </a:rPr>
              <a:t>Роли</a:t>
            </a:r>
            <a:r>
              <a:rPr lang="en" sz="1500">
                <a:solidFill>
                  <a:srgbClr val="FFFFFF"/>
                </a:solidFill>
                <a:latin typeface="Sofia Sans"/>
                <a:ea typeface="Sofia Sans"/>
                <a:cs typeface="Sofia Sans"/>
                <a:sym typeface="Sofia Sans"/>
              </a:rPr>
              <a:t>, </a:t>
            </a:r>
            <a:r>
              <a:rPr i="0" lang="en" sz="1500" u="none" cap="none" strike="noStrike">
                <a:solidFill>
                  <a:srgbClr val="FFFFFF"/>
                </a:solidFill>
                <a:latin typeface="Sofia Sans"/>
                <a:ea typeface="Sofia Sans"/>
                <a:cs typeface="Sofia Sans"/>
                <a:sym typeface="Sofia Sans"/>
              </a:rPr>
              <a:t>sequence диаграма</a:t>
            </a:r>
            <a:endParaRPr i="0" sz="11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6"/>
          <p:cNvSpPr txBox="1"/>
          <p:nvPr/>
        </p:nvSpPr>
        <p:spPr>
          <a:xfrm>
            <a:off x="8643938" y="4814888"/>
            <a:ext cx="2857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14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5" name="Google Shape;275;p36" title="sequence_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1100" y="0"/>
            <a:ext cx="52217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7"/>
          <p:cNvSpPr txBox="1"/>
          <p:nvPr/>
        </p:nvSpPr>
        <p:spPr>
          <a:xfrm>
            <a:off x="571500" y="1714500"/>
            <a:ext cx="280035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0"/>
              <a:buFont typeface="Arial"/>
              <a:buNone/>
            </a:pPr>
            <a:r>
              <a:rPr b="0" i="0" lang="en" sz="13500" u="none" cap="none" strike="noStrike">
                <a:solidFill>
                  <a:srgbClr val="FFFFFF"/>
                </a:solidFill>
                <a:latin typeface="Inter Black"/>
                <a:ea typeface="Inter Black"/>
                <a:cs typeface="Inter Black"/>
                <a:sym typeface="Inter Black"/>
              </a:rPr>
              <a:t>03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7"/>
          <p:cNvSpPr txBox="1"/>
          <p:nvPr/>
        </p:nvSpPr>
        <p:spPr>
          <a:xfrm>
            <a:off x="3371850" y="2189559"/>
            <a:ext cx="546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Sofia Sans"/>
                <a:ea typeface="Sofia Sans"/>
                <a:cs typeface="Sofia Sans"/>
                <a:sym typeface="Sofia Sans"/>
              </a:rPr>
              <a:t>Архитектура</a:t>
            </a:r>
            <a:endParaRPr i="0" sz="11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283" name="Google Shape;283;p37"/>
          <p:cNvSpPr txBox="1"/>
          <p:nvPr/>
        </p:nvSpPr>
        <p:spPr>
          <a:xfrm>
            <a:off x="3371850" y="2725340"/>
            <a:ext cx="5200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i="0" lang="en" sz="1500" u="none" cap="none" strike="noStrike">
                <a:solidFill>
                  <a:srgbClr val="FFFFFF"/>
                </a:solidFill>
                <a:latin typeface="Sofia Sans"/>
                <a:ea typeface="Sofia Sans"/>
                <a:cs typeface="Sofia Sans"/>
                <a:sym typeface="Sofia Sans"/>
              </a:rPr>
              <a:t>Мрежови сегменти, технологичен стек, защитни стени</a:t>
            </a:r>
            <a:endParaRPr i="0" sz="11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8"/>
          <p:cNvSpPr txBox="1"/>
          <p:nvPr/>
        </p:nvSpPr>
        <p:spPr>
          <a:xfrm>
            <a:off x="8651081" y="4814888"/>
            <a:ext cx="2786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16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0277" y="0"/>
            <a:ext cx="589775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4" name="Google Shape;29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9"/>
          <p:cNvSpPr txBox="1"/>
          <p:nvPr/>
        </p:nvSpPr>
        <p:spPr>
          <a:xfrm>
            <a:off x="571500" y="1714500"/>
            <a:ext cx="280035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0"/>
              <a:buFont typeface="Arial"/>
              <a:buNone/>
            </a:pPr>
            <a:r>
              <a:rPr b="0" i="0" lang="en" sz="13500" u="none" cap="none" strike="noStrike">
                <a:solidFill>
                  <a:srgbClr val="FFFFFF"/>
                </a:solidFill>
                <a:latin typeface="Inter Black"/>
                <a:ea typeface="Inter Black"/>
                <a:cs typeface="Inter Black"/>
                <a:sym typeface="Inter Black"/>
              </a:rPr>
              <a:t>04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39"/>
          <p:cNvSpPr txBox="1"/>
          <p:nvPr/>
        </p:nvSpPr>
        <p:spPr>
          <a:xfrm>
            <a:off x="3371850" y="2189559"/>
            <a:ext cx="546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3000" u="none" cap="none" strike="noStrike">
                <a:solidFill>
                  <a:srgbClr val="FFFFFF"/>
                </a:solidFill>
                <a:latin typeface="Sofia Sans"/>
                <a:ea typeface="Sofia Sans"/>
                <a:cs typeface="Sofia Sans"/>
                <a:sym typeface="Sofia Sans"/>
              </a:rPr>
              <a:t>Проектен план</a:t>
            </a:r>
            <a:endParaRPr i="0" sz="11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297" name="Google Shape;297;p39"/>
          <p:cNvSpPr txBox="1"/>
          <p:nvPr/>
        </p:nvSpPr>
        <p:spPr>
          <a:xfrm>
            <a:off x="3371850" y="2725340"/>
            <a:ext cx="5200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i="0" lang="en" sz="1500" u="none" cap="none" strike="noStrike">
                <a:solidFill>
                  <a:srgbClr val="FFFFFF"/>
                </a:solidFill>
                <a:latin typeface="Sofia Sans"/>
                <a:ea typeface="Sofia Sans"/>
                <a:cs typeface="Sofia Sans"/>
                <a:sym typeface="Sofia Sans"/>
              </a:rPr>
              <a:t>Agile план, 4 фази, </a:t>
            </a:r>
            <a:r>
              <a:rPr lang="en" sz="1500">
                <a:solidFill>
                  <a:srgbClr val="FFFFFF"/>
                </a:solidFill>
                <a:latin typeface="Sofia Sans"/>
                <a:ea typeface="Sofia Sans"/>
                <a:cs typeface="Sofia Sans"/>
                <a:sym typeface="Sofia Sans"/>
              </a:rPr>
              <a:t>Product backlog</a:t>
            </a:r>
            <a:endParaRPr i="0" sz="11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2" name="Google Shape;30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11078" y="4429125"/>
            <a:ext cx="1164431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18384" y="4429125"/>
            <a:ext cx="8572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8509" y="4429125"/>
            <a:ext cx="1014413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0"/>
          <p:cNvSpPr txBox="1"/>
          <p:nvPr/>
        </p:nvSpPr>
        <p:spPr>
          <a:xfrm>
            <a:off x="8651081" y="4814888"/>
            <a:ext cx="2786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18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0"/>
          <p:cNvSpPr txBox="1"/>
          <p:nvPr/>
        </p:nvSpPr>
        <p:spPr>
          <a:xfrm>
            <a:off x="571500" y="428625"/>
            <a:ext cx="416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4 фази, 6 спринта, 12 седмици</a:t>
            </a:r>
            <a:endParaRPr i="0" sz="11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307" name="Google Shape;307;p40"/>
          <p:cNvSpPr/>
          <p:nvPr/>
        </p:nvSpPr>
        <p:spPr>
          <a:xfrm>
            <a:off x="571500" y="747191"/>
            <a:ext cx="3964781" cy="28575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40"/>
          <p:cNvSpPr txBox="1"/>
          <p:nvPr/>
        </p:nvSpPr>
        <p:spPr>
          <a:xfrm>
            <a:off x="678656" y="1060088"/>
            <a:ext cx="71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•</a:t>
            </a:r>
            <a:endParaRPr i="0" sz="11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309" name="Google Shape;309;p40"/>
          <p:cNvSpPr txBox="1"/>
          <p:nvPr/>
        </p:nvSpPr>
        <p:spPr>
          <a:xfrm>
            <a:off x="750094" y="1061516"/>
            <a:ext cx="406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Защо Agile:</a:t>
            </a:r>
            <a:r>
              <a:rPr i="0" lang="en" sz="10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 техническият риск е в интеграциите с CBS и автентикацията, не в кода</a:t>
            </a:r>
            <a:endParaRPr i="0" sz="11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310" name="Google Shape;310;p40"/>
          <p:cNvSpPr txBox="1"/>
          <p:nvPr/>
        </p:nvSpPr>
        <p:spPr>
          <a:xfrm>
            <a:off x="678656" y="1475765"/>
            <a:ext cx="71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•</a:t>
            </a:r>
            <a:endParaRPr i="0" sz="11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311" name="Google Shape;311;p40"/>
          <p:cNvSpPr txBox="1"/>
          <p:nvPr/>
        </p:nvSpPr>
        <p:spPr>
          <a:xfrm>
            <a:off x="750094" y="1477193"/>
            <a:ext cx="406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Regulatory как</a:t>
            </a:r>
            <a:r>
              <a:rPr i="0" lang="en" sz="10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 се уточнява итеративно с compliance (Sprint Review на всеки 2 седмици)</a:t>
            </a:r>
            <a:endParaRPr i="0" sz="11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312" name="Google Shape;312;p40"/>
          <p:cNvSpPr txBox="1"/>
          <p:nvPr/>
        </p:nvSpPr>
        <p:spPr>
          <a:xfrm>
            <a:off x="678656" y="1891442"/>
            <a:ext cx="71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0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•</a:t>
            </a:r>
            <a:endParaRPr i="0" sz="11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313" name="Google Shape;313;p40"/>
          <p:cNvSpPr txBox="1"/>
          <p:nvPr/>
        </p:nvSpPr>
        <p:spPr>
          <a:xfrm>
            <a:off x="750094" y="1892870"/>
            <a:ext cx="4064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Обхватът е преорганизируем</a:t>
            </a:r>
            <a:r>
              <a:rPr i="0" lang="en" sz="10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 без пренаписване на договор</a:t>
            </a:r>
            <a:endParaRPr i="0" sz="11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314" name="Google Shape;314;p40"/>
          <p:cNvSpPr txBox="1"/>
          <p:nvPr/>
        </p:nvSpPr>
        <p:spPr>
          <a:xfrm>
            <a:off x="5100638" y="1763055"/>
            <a:ext cx="347186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Фаза 1 — Техн. ядро (Спринт 1) — CMP-001 до 005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0"/>
          <p:cNvSpPr/>
          <p:nvPr/>
        </p:nvSpPr>
        <p:spPr>
          <a:xfrm>
            <a:off x="5100638" y="1941649"/>
            <a:ext cx="694282" cy="142875"/>
          </a:xfrm>
          <a:prstGeom prst="roundRect">
            <a:avLst>
              <a:gd fmla="val 20000" name="adj"/>
            </a:avLst>
          </a:prstGeom>
          <a:solidFill>
            <a:srgbClr val="E3061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40"/>
          <p:cNvSpPr txBox="1"/>
          <p:nvPr/>
        </p:nvSpPr>
        <p:spPr>
          <a:xfrm>
            <a:off x="5100638" y="2191680"/>
            <a:ext cx="347186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Фаза 2 — Клиентска пътека (Спринт 2–3) — CMP-006 до 011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40"/>
          <p:cNvSpPr/>
          <p:nvPr/>
        </p:nvSpPr>
        <p:spPr>
          <a:xfrm>
            <a:off x="5794920" y="2370274"/>
            <a:ext cx="1735931" cy="142875"/>
          </a:xfrm>
          <a:prstGeom prst="roundRect">
            <a:avLst>
              <a:gd fmla="val 20000" name="adj"/>
            </a:avLst>
          </a:prstGeom>
          <a:solidFill>
            <a:srgbClr val="E3061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40"/>
          <p:cNvSpPr txBox="1"/>
          <p:nvPr/>
        </p:nvSpPr>
        <p:spPr>
          <a:xfrm>
            <a:off x="5100638" y="2620305"/>
            <a:ext cx="347186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Фаза 3 — Специалист + AI (Спринт 4–5) — CMP-012 до 017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0"/>
          <p:cNvSpPr/>
          <p:nvPr/>
        </p:nvSpPr>
        <p:spPr>
          <a:xfrm>
            <a:off x="6836569" y="2798899"/>
            <a:ext cx="1735931" cy="142875"/>
          </a:xfrm>
          <a:prstGeom prst="roundRect">
            <a:avLst>
              <a:gd fmla="val 20000" name="adj"/>
            </a:avLst>
          </a:prstGeom>
          <a:solidFill>
            <a:srgbClr val="E3061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40"/>
          <p:cNvSpPr txBox="1"/>
          <p:nvPr/>
        </p:nvSpPr>
        <p:spPr>
          <a:xfrm>
            <a:off x="5100638" y="3048930"/>
            <a:ext cx="347186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Фаза 4 — Регулат. отчитане (Спринт 6) — CMP-018 до 020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0"/>
          <p:cNvSpPr/>
          <p:nvPr/>
        </p:nvSpPr>
        <p:spPr>
          <a:xfrm>
            <a:off x="7878105" y="3227524"/>
            <a:ext cx="694282" cy="142875"/>
          </a:xfrm>
          <a:prstGeom prst="roundRect">
            <a:avLst>
              <a:gd fmla="val 20000" name="adj"/>
            </a:avLst>
          </a:prstGeom>
          <a:solidFill>
            <a:srgbClr val="E3061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40"/>
          <p:cNvSpPr txBox="1"/>
          <p:nvPr/>
        </p:nvSpPr>
        <p:spPr>
          <a:xfrm>
            <a:off x="5100638" y="3477555"/>
            <a:ext cx="3471863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Hyper-care (Седмица 13+) — monitoring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0"/>
          <p:cNvSpPr/>
          <p:nvPr/>
        </p:nvSpPr>
        <p:spPr>
          <a:xfrm>
            <a:off x="8225246" y="3656149"/>
            <a:ext cx="347141" cy="71438"/>
          </a:xfrm>
          <a:prstGeom prst="roundRect">
            <a:avLst>
              <a:gd fmla="val 40000" name="adj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2"/>
          <p:cNvSpPr txBox="1"/>
          <p:nvPr/>
        </p:nvSpPr>
        <p:spPr>
          <a:xfrm>
            <a:off x="8651081" y="4814888"/>
            <a:ext cx="278606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rPr>
              <a:t>19 / 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42"/>
          <p:cNvSpPr txBox="1"/>
          <p:nvPr/>
        </p:nvSpPr>
        <p:spPr>
          <a:xfrm>
            <a:off x="571500" y="428625"/>
            <a:ext cx="1695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Заключение</a:t>
            </a:r>
            <a:endParaRPr i="0" sz="11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335" name="Google Shape;335;p42"/>
          <p:cNvSpPr/>
          <p:nvPr/>
        </p:nvSpPr>
        <p:spPr>
          <a:xfrm>
            <a:off x="571500" y="747191"/>
            <a:ext cx="1614488" cy="28575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42"/>
          <p:cNvSpPr txBox="1"/>
          <p:nvPr/>
        </p:nvSpPr>
        <p:spPr>
          <a:xfrm>
            <a:off x="714381" y="1221544"/>
            <a:ext cx="7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6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•</a:t>
            </a:r>
            <a:endParaRPr i="0" sz="16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337" name="Google Shape;337;p42"/>
          <p:cNvSpPr txBox="1"/>
          <p:nvPr/>
        </p:nvSpPr>
        <p:spPr>
          <a:xfrm>
            <a:off x="785819" y="1222973"/>
            <a:ext cx="7822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Жалбата става 100% дигитална</a:t>
            </a:r>
            <a:r>
              <a:rPr i="0" lang="en" sz="16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 — без клон, без КЕП, без отделен уеб формуляр</a:t>
            </a:r>
            <a:endParaRPr i="0" sz="16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338" name="Google Shape;338;p42"/>
          <p:cNvSpPr txBox="1"/>
          <p:nvPr/>
        </p:nvSpPr>
        <p:spPr>
          <a:xfrm>
            <a:off x="714381" y="1695251"/>
            <a:ext cx="7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6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•</a:t>
            </a:r>
            <a:endParaRPr i="0" sz="16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339" name="Google Shape;339;p42"/>
          <p:cNvSpPr txBox="1"/>
          <p:nvPr/>
        </p:nvSpPr>
        <p:spPr>
          <a:xfrm>
            <a:off x="785819" y="1696680"/>
            <a:ext cx="78225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Запазваме обявения 3-дневен SLA на UCB</a:t>
            </a:r>
            <a:r>
              <a:rPr i="0" lang="en" sz="16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, но го правим </a:t>
            </a:r>
            <a:r>
              <a:rPr b="1" i="0" lang="en" sz="16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проследим</a:t>
            </a:r>
            <a:r>
              <a:rPr i="0" lang="en" sz="16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 — референтен номер, in-app статус, push нотификации</a:t>
            </a:r>
            <a:endParaRPr i="0" sz="16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340" name="Google Shape;340;p42"/>
          <p:cNvSpPr txBox="1"/>
          <p:nvPr/>
        </p:nvSpPr>
        <p:spPr>
          <a:xfrm>
            <a:off x="714381" y="2384205"/>
            <a:ext cx="7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6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•</a:t>
            </a:r>
            <a:endParaRPr i="0" sz="16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341" name="Google Shape;341;p42"/>
          <p:cNvSpPr txBox="1"/>
          <p:nvPr/>
        </p:nvSpPr>
        <p:spPr>
          <a:xfrm>
            <a:off x="785819" y="2385634"/>
            <a:ext cx="7822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6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Напълно под регулаторния таван</a:t>
            </a:r>
            <a:r>
              <a:rPr i="0" lang="en" sz="16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 от 15 работни дни по ЗПУПС чл. 174 ал. 1</a:t>
            </a:r>
            <a:endParaRPr i="0" sz="16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342" name="Google Shape;342;p42"/>
          <p:cNvSpPr txBox="1"/>
          <p:nvPr/>
        </p:nvSpPr>
        <p:spPr>
          <a:xfrm>
            <a:off x="714381" y="2810334"/>
            <a:ext cx="7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6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•</a:t>
            </a:r>
            <a:endParaRPr i="0" sz="16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  <p:sp>
        <p:nvSpPr>
          <p:cNvPr id="343" name="Google Shape;343;p42"/>
          <p:cNvSpPr txBox="1"/>
          <p:nvPr/>
        </p:nvSpPr>
        <p:spPr>
          <a:xfrm>
            <a:off x="785819" y="2811763"/>
            <a:ext cx="78225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i="0" lang="en" sz="16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UniCredit Bulbank може да се позиционира като </a:t>
            </a:r>
            <a:r>
              <a:rPr b="1" i="0" lang="en" sz="1600" u="none" cap="none" strike="noStrike">
                <a:solidFill>
                  <a:srgbClr val="1A1A1A"/>
                </a:solidFill>
                <a:latin typeface="Sofia Sans"/>
                <a:ea typeface="Sofia Sans"/>
                <a:cs typeface="Sofia Sans"/>
                <a:sym typeface="Sofia Sans"/>
              </a:rPr>
              <a:t>първата българска банка с напълно дистанционен жизнен цикъл на жалбата</a:t>
            </a:r>
            <a:endParaRPr i="0" sz="1600" u="none" cap="none" strike="noStrike">
              <a:solidFill>
                <a:srgbClr val="000000"/>
              </a:solidFill>
              <a:latin typeface="Sofia Sans"/>
              <a:ea typeface="Sofia Sans"/>
              <a:cs typeface="Sofia Sans"/>
              <a:sym typeface="Sofi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